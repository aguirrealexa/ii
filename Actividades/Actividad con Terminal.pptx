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2" r:id="rId5"/>
    <p:sldMasterId id="21474836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Rajdhani"/>
      <p:regular r:id="rId19"/>
      <p:bold r:id="rId20"/>
    </p:embeddedFont>
    <p:embeddedFont>
      <p:font typeface="Open Sans"/>
      <p:regular r:id="rId21"/>
      <p:bold r:id="rId22"/>
      <p:italic r:id="rId23"/>
      <p:boldItalic r:id="rId24"/>
    </p:embeddedFont>
    <p:embeddedFont>
      <p:font typeface="Karla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9" roundtripDataSignature="AMtx7mimqRV0VN2in1k/AtoxD2sNKYdB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jdhani-bold.fntdata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Karla-bold.fntdata"/><Relationship Id="rId25" Type="http://schemas.openxmlformats.org/officeDocument/2006/relationships/font" Target="fonts/Karla-regular.fntdata"/><Relationship Id="rId28" Type="http://schemas.openxmlformats.org/officeDocument/2006/relationships/font" Target="fonts/Karla-boldItalic.fntdata"/><Relationship Id="rId27" Type="http://schemas.openxmlformats.org/officeDocument/2006/relationships/font" Target="fonts/Karla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customschemas.google.com/relationships/presentationmetadata" Target="meta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Rajdhani-regular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48bfaac81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c48bfaac8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48bfaac81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c48bfaac81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316d693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316d693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510cdc75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c510cdc75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c316d6937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c316d6937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c48bfaac81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c48bfaac81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c316d6937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c316d6937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c510cdc75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c510cdc75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c510cdc75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c510cdc75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48bfaac81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c48bfaac81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c48bfaac81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c48bfaac81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gc48bfaac81_0_79"/>
          <p:cNvSpPr txBox="1"/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pic>
        <p:nvPicPr>
          <p:cNvPr id="8" name="Google Shape;8;gc48bfaac81_0_79"/>
          <p:cNvPicPr preferRelativeResize="0"/>
          <p:nvPr/>
        </p:nvPicPr>
        <p:blipFill rotWithShape="1">
          <a:blip r:embed="rId3">
            <a:alphaModFix/>
          </a:blip>
          <a:srcRect b="0" l="5658" r="5649" t="0"/>
          <a:stretch/>
        </p:blipFill>
        <p:spPr>
          <a:xfrm>
            <a:off x="5888950" y="3624550"/>
            <a:ext cx="2675822" cy="11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c48bfaac81_0_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c48bfaac81_0_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c48bfaac81_0_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c48bfaac81_0_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c48bfaac81_0_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c48bfaac81_0_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gc48bfaac81_0_5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c48bfaac81_0_5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c48bfaac81_0_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c48bfaac81_0_6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c48bfaac81_0_6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c48bfaac81_0_6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c48bfaac81_0_65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c48bfaac81_0_6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c48bfaac81_0_6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gc48bfaac81_0_6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c48bfaac81_0_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c48bfaac81_0_7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37" name="Google Shape;37;gc48bfaac81_0_7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c48bfaac81_0_76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gc48bfaac81_0_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c48bfaac81_0_1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c48bfaac81_0_1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c48bfaac81_0_17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c48bfaac81_0_17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48bfaac81_0_17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48bfaac81_0_1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gc48bfaac81_0_17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c48bfaac81_0_17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48bfaac81_0_1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48bfaac81_0_18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gc48bfaac81_0_18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48bfaac81_0_18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48bfaac81_0_189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c48bfaac81_0_18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gc48bfaac81_0_18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gc48bfaac81_0_18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48bfaac81_0_19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48bfaac81_0_19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gc48bfaac81_0_19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48bfaac81_0_200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gc48bfaac81_0_2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48bfaac81_0_203"/>
          <p:cNvSpPr txBox="1"/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pic>
        <p:nvPicPr>
          <p:cNvPr id="81" name="Google Shape;81;gc48bfaac81_0_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5149" y="3700742"/>
            <a:ext cx="2416852" cy="10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c48bfaac81_0_489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gc48bfaac81_0_4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48bfaac81_0_45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gc48bfaac81_0_45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48bfaac81_0_4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48bfaac81_0_4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gc48bfaac81_0_4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48bfaac81_0_4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gc48bfaac81_0_46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gc48bfaac81_0_46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48bfaac81_0_4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48bfaac81_0_47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gc48bfaac81_0_47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48bfaac81_0_47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48bfaac81_0_478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c48bfaac81_0_47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gc48bfaac81_0_47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gc48bfaac81_0_47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48bfaac81_0_48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48bfaac81_0_48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gc48bfaac81_0_48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c48bfaac81_0_492"/>
          <p:cNvSpPr txBox="1"/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b="1" i="0" sz="5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/>
        </p:txBody>
      </p:sp>
      <p:pic>
        <p:nvPicPr>
          <p:cNvPr id="125" name="Google Shape;125;gc48bfaac81_0_4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5149" y="3700742"/>
            <a:ext cx="2416852" cy="10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c48bfaac81_0_162"/>
          <p:cNvSpPr/>
          <p:nvPr/>
        </p:nvSpPr>
        <p:spPr>
          <a:xfrm>
            <a:off x="-15600" y="4856100"/>
            <a:ext cx="9175200" cy="332100"/>
          </a:xfrm>
          <a:prstGeom prst="rect">
            <a:avLst/>
          </a:prstGeom>
          <a:solidFill>
            <a:srgbClr val="EC18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c48bfaac81_0_162"/>
          <p:cNvSpPr txBox="1"/>
          <p:nvPr/>
        </p:nvSpPr>
        <p:spPr>
          <a:xfrm>
            <a:off x="111657" y="4953600"/>
            <a:ext cx="2187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Actividad con</a:t>
            </a:r>
            <a:r>
              <a:rPr b="0" i="0" lang="e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terminal</a:t>
            </a:r>
            <a:endParaRPr b="0" i="0" sz="9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5" name="Google Shape;45;gc48bfaac81_0_16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74225" y="4931037"/>
            <a:ext cx="764551" cy="1822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83;gc48bfaac81_0_451"/>
          <p:cNvCxnSpPr/>
          <p:nvPr/>
        </p:nvCxnSpPr>
        <p:spPr>
          <a:xfrm>
            <a:off x="719925" y="-8000"/>
            <a:ext cx="8100" cy="48795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4" name="Google Shape;84;gc48bfaac81_0_451"/>
          <p:cNvCxnSpPr/>
          <p:nvPr/>
        </p:nvCxnSpPr>
        <p:spPr>
          <a:xfrm>
            <a:off x="8419950" y="-8000"/>
            <a:ext cx="8100" cy="48795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5" name="Google Shape;85;gc48bfaac81_0_451"/>
          <p:cNvCxnSpPr/>
          <p:nvPr/>
        </p:nvCxnSpPr>
        <p:spPr>
          <a:xfrm flipH="1" rot="10800000">
            <a:off x="-8000" y="1178475"/>
            <a:ext cx="9175200" cy="54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6" name="Google Shape;86;gc48bfaac81_0_451"/>
          <p:cNvCxnSpPr/>
          <p:nvPr/>
        </p:nvCxnSpPr>
        <p:spPr>
          <a:xfrm flipH="1" rot="10800000">
            <a:off x="-15600" y="4860825"/>
            <a:ext cx="9175200" cy="5400"/>
          </a:xfrm>
          <a:prstGeom prst="straightConnector1">
            <a:avLst/>
          </a:prstGeom>
          <a:noFill/>
          <a:ln cap="flat" cmpd="sng" w="9525">
            <a:solidFill>
              <a:srgbClr val="FCD8D6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7" name="Google Shape;87;gc48bfaac81_0_451"/>
          <p:cNvSpPr/>
          <p:nvPr/>
        </p:nvSpPr>
        <p:spPr>
          <a:xfrm>
            <a:off x="-15600" y="4856100"/>
            <a:ext cx="9175200" cy="332100"/>
          </a:xfrm>
          <a:prstGeom prst="rect">
            <a:avLst/>
          </a:prstGeom>
          <a:solidFill>
            <a:srgbClr val="EC18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c48bfaac81_0_451"/>
          <p:cNvSpPr txBox="1"/>
          <p:nvPr/>
        </p:nvSpPr>
        <p:spPr>
          <a:xfrm>
            <a:off x="111657" y="4953600"/>
            <a:ext cx="2187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Título del ppt</a:t>
            </a:r>
            <a:endParaRPr b="0" i="0" sz="9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9" name="Google Shape;89;gc48bfaac81_0_45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74225" y="4931037"/>
            <a:ext cx="764551" cy="1822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5.xml"/><Relationship Id="rId5" Type="http://schemas.openxmlformats.org/officeDocument/2006/relationships/slide" Target="/ppt/slides/slide7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c48bfaac81_0_41"/>
          <p:cNvSpPr txBox="1"/>
          <p:nvPr>
            <p:ph type="title"/>
          </p:nvPr>
        </p:nvSpPr>
        <p:spPr>
          <a:xfrm>
            <a:off x="4289805" y="1256945"/>
            <a:ext cx="40581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0000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Actividad con terminal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c48bfaac81_0_495"/>
          <p:cNvSpPr txBox="1"/>
          <p:nvPr/>
        </p:nvSpPr>
        <p:spPr>
          <a:xfrm>
            <a:off x="3897550" y="1756575"/>
            <a:ext cx="4505400" cy="30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b="1" lang="es" sz="2000" u="sng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  <a:hlinkClick action="ppaction://hlinksldjump" r:id="rId3"/>
              </a:rPr>
              <a:t>Consigna</a:t>
            </a:r>
            <a:endParaRPr b="1" i="0" sz="2000" u="none" cap="none" strike="noStrik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-3556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b="1" lang="es" sz="2000" u="sng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  <a:hlinkClick action="ppaction://hlinksldjump" r:id="rId4"/>
              </a:rPr>
              <a:t>Plantilla guia</a:t>
            </a:r>
            <a:r>
              <a:rPr b="1" lang="es" sz="2000">
                <a:solidFill>
                  <a:srgbClr val="43434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endParaRPr b="1" sz="2000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-3556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b="1" lang="es" sz="2000" u="sng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  <a:hlinkClick action="ppaction://hlinksldjump" r:id="rId5"/>
              </a:rPr>
              <a:t>Comandos de ayuda</a:t>
            </a:r>
            <a:endParaRPr b="1" sz="2000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36" name="Google Shape;136;gc48bfaac81_0_495"/>
          <p:cNvSpPr txBox="1"/>
          <p:nvPr/>
        </p:nvSpPr>
        <p:spPr>
          <a:xfrm>
            <a:off x="1672950" y="2442819"/>
            <a:ext cx="15903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s" sz="3100" u="none" cap="none" strike="noStrike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Índice</a:t>
            </a:r>
            <a:endParaRPr b="1" i="0" sz="27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37" name="Google Shape;137;gc48bfaac81_0_495"/>
          <p:cNvCxnSpPr/>
          <p:nvPr/>
        </p:nvCxnSpPr>
        <p:spPr>
          <a:xfrm flipH="1">
            <a:off x="3592750" y="1409375"/>
            <a:ext cx="18900" cy="30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c316d69379_0_0"/>
          <p:cNvSpPr txBox="1"/>
          <p:nvPr/>
        </p:nvSpPr>
        <p:spPr>
          <a:xfrm>
            <a:off x="3609750" y="1495200"/>
            <a:ext cx="4808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Consigna</a:t>
            </a:r>
            <a:endParaRPr b="1" sz="37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3" name="Google Shape;143;gc316d69379_0_0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endParaRPr b="1" sz="60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4" name="Google Shape;144;gc316d69379_0_0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510cdc753_0_187"/>
          <p:cNvSpPr txBox="1"/>
          <p:nvPr/>
        </p:nvSpPr>
        <p:spPr>
          <a:xfrm>
            <a:off x="530400" y="1823050"/>
            <a:ext cx="65421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AutoNum type="arabicParenR"/>
            </a:pPr>
            <a:r>
              <a:rPr b="1"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Crear</a:t>
            </a:r>
            <a:r>
              <a:rPr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3 carpetas en la raíz.</a:t>
            </a:r>
            <a:endParaRPr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AutoNum type="arabicParenR"/>
            </a:pPr>
            <a:r>
              <a:rPr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Crear archivos dentro de las carpetas.</a:t>
            </a:r>
            <a:endParaRPr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AutoNum type="arabicParenR"/>
            </a:pPr>
            <a:r>
              <a:rPr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Mover el archivo </a:t>
            </a:r>
            <a:r>
              <a:rPr b="1"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mover1 </a:t>
            </a:r>
            <a:r>
              <a:rPr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la </a:t>
            </a:r>
            <a:r>
              <a:rPr b="1"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carpeta3.</a:t>
            </a:r>
            <a:endParaRPr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AutoNum type="arabicParenR"/>
            </a:pPr>
            <a:r>
              <a:rPr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Mover el archivo </a:t>
            </a:r>
            <a:r>
              <a:rPr b="1"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mover3 </a:t>
            </a:r>
            <a:r>
              <a:rPr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 la </a:t>
            </a:r>
            <a:r>
              <a:rPr b="1" lang="e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carpeta1.</a:t>
            </a:r>
            <a:endParaRPr b="1"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gc510cdc753_0_187"/>
          <p:cNvSpPr/>
          <p:nvPr/>
        </p:nvSpPr>
        <p:spPr>
          <a:xfrm>
            <a:off x="7135044" y="1613647"/>
            <a:ext cx="1208834" cy="1757993"/>
          </a:xfrm>
          <a:custGeom>
            <a:rect b="b" l="l" r="r" t="t"/>
            <a:pathLst>
              <a:path extrusionOk="0" h="498015" w="342446">
                <a:moveTo>
                  <a:pt x="93494" y="441963"/>
                </a:moveTo>
                <a:cubicBezTo>
                  <a:pt x="93494" y="448093"/>
                  <a:pt x="95355" y="454115"/>
                  <a:pt x="98749" y="459151"/>
                </a:cubicBezTo>
                <a:lnTo>
                  <a:pt x="115390" y="484112"/>
                </a:lnTo>
                <a:cubicBezTo>
                  <a:pt x="121192" y="492761"/>
                  <a:pt x="130935" y="498016"/>
                  <a:pt x="141336" y="498016"/>
                </a:cubicBezTo>
                <a:lnTo>
                  <a:pt x="201330" y="498016"/>
                </a:lnTo>
                <a:cubicBezTo>
                  <a:pt x="211730" y="498016"/>
                  <a:pt x="221474" y="492761"/>
                  <a:pt x="227276" y="484112"/>
                </a:cubicBezTo>
                <a:lnTo>
                  <a:pt x="243917" y="459151"/>
                </a:lnTo>
                <a:cubicBezTo>
                  <a:pt x="247311" y="454005"/>
                  <a:pt x="249172" y="448093"/>
                  <a:pt x="249172" y="441963"/>
                </a:cubicBezTo>
                <a:lnTo>
                  <a:pt x="249172" y="404631"/>
                </a:lnTo>
                <a:lnTo>
                  <a:pt x="93604" y="404631"/>
                </a:lnTo>
                <a:lnTo>
                  <a:pt x="93494" y="441963"/>
                </a:lnTo>
                <a:close/>
                <a:moveTo>
                  <a:pt x="0" y="171224"/>
                </a:moveTo>
                <a:cubicBezTo>
                  <a:pt x="0" y="214358"/>
                  <a:pt x="15984" y="253770"/>
                  <a:pt x="42368" y="283877"/>
                </a:cubicBezTo>
                <a:cubicBezTo>
                  <a:pt x="58461" y="302160"/>
                  <a:pt x="83532" y="340477"/>
                  <a:pt x="93166" y="372882"/>
                </a:cubicBezTo>
                <a:cubicBezTo>
                  <a:pt x="93166" y="373101"/>
                  <a:pt x="93275" y="373430"/>
                  <a:pt x="93275" y="373649"/>
                </a:cubicBezTo>
                <a:lnTo>
                  <a:pt x="249172" y="373649"/>
                </a:lnTo>
                <a:cubicBezTo>
                  <a:pt x="249172" y="373430"/>
                  <a:pt x="249281" y="373101"/>
                  <a:pt x="249281" y="372882"/>
                </a:cubicBezTo>
                <a:cubicBezTo>
                  <a:pt x="258915" y="340586"/>
                  <a:pt x="283986" y="302269"/>
                  <a:pt x="300079" y="283877"/>
                </a:cubicBezTo>
                <a:cubicBezTo>
                  <a:pt x="326463" y="253770"/>
                  <a:pt x="342447" y="214358"/>
                  <a:pt x="342447" y="171224"/>
                </a:cubicBezTo>
                <a:cubicBezTo>
                  <a:pt x="342447" y="76526"/>
                  <a:pt x="265484" y="-218"/>
                  <a:pt x="170676" y="0"/>
                </a:cubicBezTo>
                <a:cubicBezTo>
                  <a:pt x="71489" y="329"/>
                  <a:pt x="0" y="80686"/>
                  <a:pt x="0" y="171224"/>
                </a:cubicBezTo>
                <a:moveTo>
                  <a:pt x="171224" y="93385"/>
                </a:moveTo>
                <a:cubicBezTo>
                  <a:pt x="128308" y="93385"/>
                  <a:pt x="93385" y="128309"/>
                  <a:pt x="93385" y="171224"/>
                </a:cubicBezTo>
                <a:cubicBezTo>
                  <a:pt x="93385" y="179873"/>
                  <a:pt x="86378" y="186770"/>
                  <a:pt x="77839" y="186770"/>
                </a:cubicBezTo>
                <a:cubicBezTo>
                  <a:pt x="69300" y="186770"/>
                  <a:pt x="62293" y="179763"/>
                  <a:pt x="62293" y="171224"/>
                </a:cubicBezTo>
                <a:cubicBezTo>
                  <a:pt x="62293" y="111120"/>
                  <a:pt x="111120" y="62293"/>
                  <a:pt x="171224" y="62293"/>
                </a:cubicBezTo>
                <a:cubicBezTo>
                  <a:pt x="179872" y="62293"/>
                  <a:pt x="186769" y="69300"/>
                  <a:pt x="186769" y="77839"/>
                </a:cubicBezTo>
                <a:cubicBezTo>
                  <a:pt x="186769" y="86379"/>
                  <a:pt x="179872" y="93385"/>
                  <a:pt x="171224" y="9338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c316d69379_0_50"/>
          <p:cNvSpPr txBox="1"/>
          <p:nvPr/>
        </p:nvSpPr>
        <p:spPr>
          <a:xfrm>
            <a:off x="3609750" y="1495200"/>
            <a:ext cx="4808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Plantilla guia </a:t>
            </a:r>
            <a:endParaRPr b="1" sz="37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56" name="Google Shape;156;gc316d69379_0_50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2</a:t>
            </a:r>
            <a:endParaRPr b="1" sz="60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57" name="Google Shape;157;gc316d69379_0_50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c48bfaac81_0_342"/>
          <p:cNvSpPr txBox="1"/>
          <p:nvPr/>
        </p:nvSpPr>
        <p:spPr>
          <a:xfrm>
            <a:off x="717750" y="549075"/>
            <a:ext cx="7707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s" sz="33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Plantilla </a:t>
            </a:r>
            <a:r>
              <a:rPr b="1" lang="es" sz="3300">
                <a:solidFill>
                  <a:srgbClr val="434343"/>
                </a:solidFill>
                <a:latin typeface="Rajdhani"/>
                <a:ea typeface="Rajdhani"/>
                <a:cs typeface="Rajdhani"/>
                <a:sym typeface="Rajdhani"/>
              </a:rPr>
              <a:t>guia </a:t>
            </a:r>
            <a:endParaRPr b="1" i="0" sz="4400" u="none" cap="none" strike="noStrik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63" name="Google Shape;163;gc48bfaac81_0_342"/>
          <p:cNvSpPr txBox="1"/>
          <p:nvPr/>
        </p:nvSpPr>
        <p:spPr>
          <a:xfrm>
            <a:off x="717750" y="1286550"/>
            <a:ext cx="284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4" name="Google Shape;164;gc48bfaac81_0_3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827" y="1057950"/>
            <a:ext cx="5963401" cy="35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c316d69379_0_56"/>
          <p:cNvSpPr txBox="1"/>
          <p:nvPr/>
        </p:nvSpPr>
        <p:spPr>
          <a:xfrm>
            <a:off x="3609750" y="1495200"/>
            <a:ext cx="2686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Comandos de ayuda</a:t>
            </a:r>
            <a:endParaRPr b="1" sz="37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70" name="Google Shape;170;gc316d69379_0_56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3</a:t>
            </a:r>
            <a:endParaRPr b="1" sz="600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71" name="Google Shape;171;gc316d69379_0_56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c510cdc753_0_4"/>
          <p:cNvSpPr txBox="1"/>
          <p:nvPr/>
        </p:nvSpPr>
        <p:spPr>
          <a:xfrm>
            <a:off x="717750" y="549075"/>
            <a:ext cx="77076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s" sz="3300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Comandos de </a:t>
            </a:r>
            <a:r>
              <a:rPr b="1" lang="es" sz="3300">
                <a:latin typeface="Rajdhani"/>
                <a:ea typeface="Rajdhani"/>
                <a:cs typeface="Rajdhani"/>
                <a:sym typeface="Rajdhani"/>
              </a:rPr>
              <a:t>ayuda</a:t>
            </a:r>
            <a:endParaRPr b="1" i="0" sz="4400" u="none" cap="none" strike="noStrike">
              <a:latin typeface="Rajdhani"/>
              <a:ea typeface="Rajdhani"/>
              <a:cs typeface="Rajdhani"/>
              <a:sym typeface="Rajdhani"/>
            </a:endParaRPr>
          </a:p>
        </p:txBody>
      </p:sp>
      <p:grpSp>
        <p:nvGrpSpPr>
          <p:cNvPr id="177" name="Google Shape;177;gc510cdc753_0_4"/>
          <p:cNvGrpSpPr/>
          <p:nvPr/>
        </p:nvGrpSpPr>
        <p:grpSpPr>
          <a:xfrm>
            <a:off x="1082200" y="3707409"/>
            <a:ext cx="6846900" cy="471244"/>
            <a:chOff x="0" y="2265898"/>
            <a:chExt cx="6846900" cy="954902"/>
          </a:xfrm>
        </p:grpSpPr>
        <p:sp>
          <p:nvSpPr>
            <p:cNvPr id="178" name="Google Shape;178;gc510cdc753_0_4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c510cdc753_0_4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80" name="Google Shape;180;gc510cdc753_0_4"/>
          <p:cNvGrpSpPr/>
          <p:nvPr/>
        </p:nvGrpSpPr>
        <p:grpSpPr>
          <a:xfrm>
            <a:off x="1082200" y="2542798"/>
            <a:ext cx="6846900" cy="471244"/>
            <a:chOff x="0" y="2265898"/>
            <a:chExt cx="6846900" cy="954902"/>
          </a:xfrm>
        </p:grpSpPr>
        <p:sp>
          <p:nvSpPr>
            <p:cNvPr id="181" name="Google Shape;181;gc510cdc753_0_4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c510cdc753_0_4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83" name="Google Shape;183;gc510cdc753_0_4"/>
          <p:cNvGrpSpPr/>
          <p:nvPr/>
        </p:nvGrpSpPr>
        <p:grpSpPr>
          <a:xfrm>
            <a:off x="1082200" y="1378201"/>
            <a:ext cx="6846900" cy="471244"/>
            <a:chOff x="0" y="2265898"/>
            <a:chExt cx="6846900" cy="954902"/>
          </a:xfrm>
        </p:grpSpPr>
        <p:sp>
          <p:nvSpPr>
            <p:cNvPr id="184" name="Google Shape;184;gc510cdc753_0_4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c510cdc753_0_4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86" name="Google Shape;186;gc510cdc753_0_4"/>
          <p:cNvSpPr txBox="1"/>
          <p:nvPr/>
        </p:nvSpPr>
        <p:spPr>
          <a:xfrm>
            <a:off x="1770800" y="1401775"/>
            <a:ext cx="61584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ls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t] En Mac y Linux, muestra los archivos de la carpeta en la que estamos ubicados. En Windows, también, si usamos el PowerShell.</a:t>
            </a:r>
            <a:endParaRPr b="0" i="0" sz="8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dir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DIR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ectories] En Windows, muestra los archivos de la carpeta en la que estamos ubicados.</a:t>
            </a:r>
            <a:endParaRPr b="0" i="0" sz="8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cd ..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hange 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irectory] Nos permite retroceder una carpeta.</a:t>
            </a:r>
            <a:endParaRPr b="0" i="0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gc510cdc753_0_18"/>
          <p:cNvGrpSpPr/>
          <p:nvPr/>
        </p:nvGrpSpPr>
        <p:grpSpPr>
          <a:xfrm>
            <a:off x="1031850" y="3613909"/>
            <a:ext cx="6846900" cy="471244"/>
            <a:chOff x="0" y="2265898"/>
            <a:chExt cx="6846900" cy="954902"/>
          </a:xfrm>
        </p:grpSpPr>
        <p:sp>
          <p:nvSpPr>
            <p:cNvPr id="192" name="Google Shape;192;gc510cdc753_0_18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c510cdc753_0_18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94" name="Google Shape;194;gc510cdc753_0_18"/>
          <p:cNvGrpSpPr/>
          <p:nvPr/>
        </p:nvGrpSpPr>
        <p:grpSpPr>
          <a:xfrm>
            <a:off x="1031850" y="2506112"/>
            <a:ext cx="6846900" cy="471244"/>
            <a:chOff x="0" y="2265898"/>
            <a:chExt cx="6846900" cy="954902"/>
          </a:xfrm>
        </p:grpSpPr>
        <p:sp>
          <p:nvSpPr>
            <p:cNvPr id="195" name="Google Shape;195;gc510cdc753_0_18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c510cdc753_0_18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97" name="Google Shape;197;gc510cdc753_0_18"/>
          <p:cNvGrpSpPr/>
          <p:nvPr/>
        </p:nvGrpSpPr>
        <p:grpSpPr>
          <a:xfrm>
            <a:off x="1031850" y="1293601"/>
            <a:ext cx="6846900" cy="471244"/>
            <a:chOff x="0" y="2265898"/>
            <a:chExt cx="6846900" cy="954902"/>
          </a:xfrm>
        </p:grpSpPr>
        <p:sp>
          <p:nvSpPr>
            <p:cNvPr id="198" name="Google Shape;198;gc510cdc753_0_18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c510cdc753_0_18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00" name="Google Shape;200;gc510cdc753_0_18"/>
          <p:cNvSpPr txBox="1"/>
          <p:nvPr/>
        </p:nvSpPr>
        <p:spPr>
          <a:xfrm>
            <a:off x="1720450" y="1317175"/>
            <a:ext cx="61584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rm nombreArchivo.extensión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ove] Elimina el archivo que le indiquemos (no debemos olvidarnos de escribir la extensión).</a:t>
            </a:r>
            <a:endParaRPr b="0" i="0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mv nombreAnterior nombreNuevo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e] Cambia el nombre de un archivo por el nombre nuevo que le indiquemos.</a:t>
            </a:r>
            <a:endParaRPr b="0" i="0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clear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Limpia todo</a:t>
            </a:r>
            <a:r>
              <a:rPr lang="es" sz="15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lo que hay en la terminal 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en el terminal.</a:t>
            </a:r>
            <a:endParaRPr b="0" i="1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gc48bfaac81_0_373"/>
          <p:cNvGrpSpPr/>
          <p:nvPr/>
        </p:nvGrpSpPr>
        <p:grpSpPr>
          <a:xfrm>
            <a:off x="1122550" y="3444231"/>
            <a:ext cx="6846900" cy="471244"/>
            <a:chOff x="0" y="2265898"/>
            <a:chExt cx="6846900" cy="954902"/>
          </a:xfrm>
        </p:grpSpPr>
        <p:sp>
          <p:nvSpPr>
            <p:cNvPr id="206" name="Google Shape;206;gc48bfaac81_0_373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c48bfaac81_0_373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08" name="Google Shape;208;gc48bfaac81_0_373"/>
          <p:cNvGrpSpPr/>
          <p:nvPr/>
        </p:nvGrpSpPr>
        <p:grpSpPr>
          <a:xfrm>
            <a:off x="1122550" y="2309736"/>
            <a:ext cx="6846900" cy="471244"/>
            <a:chOff x="0" y="2265898"/>
            <a:chExt cx="6846900" cy="954902"/>
          </a:xfrm>
        </p:grpSpPr>
        <p:sp>
          <p:nvSpPr>
            <p:cNvPr id="209" name="Google Shape;209;gc48bfaac81_0_373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c48bfaac81_0_373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11" name="Google Shape;211;gc48bfaac81_0_373"/>
          <p:cNvGrpSpPr/>
          <p:nvPr/>
        </p:nvGrpSpPr>
        <p:grpSpPr>
          <a:xfrm>
            <a:off x="1122550" y="1130376"/>
            <a:ext cx="6846900" cy="471244"/>
            <a:chOff x="0" y="2265898"/>
            <a:chExt cx="6846900" cy="954902"/>
          </a:xfrm>
        </p:grpSpPr>
        <p:sp>
          <p:nvSpPr>
            <p:cNvPr id="212" name="Google Shape;212;gc48bfaac81_0_373"/>
            <p:cNvSpPr/>
            <p:nvPr/>
          </p:nvSpPr>
          <p:spPr>
            <a:xfrm>
              <a:off x="484200" y="2265900"/>
              <a:ext cx="6362700" cy="9549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gc48bfaac81_0_373"/>
            <p:cNvSpPr/>
            <p:nvPr/>
          </p:nvSpPr>
          <p:spPr>
            <a:xfrm>
              <a:off x="0" y="2265898"/>
              <a:ext cx="484200" cy="95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&gt;_</a:t>
              </a:r>
              <a:endParaRPr b="0" i="0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14" name="Google Shape;214;gc48bfaac81_0_373"/>
          <p:cNvSpPr txBox="1"/>
          <p:nvPr/>
        </p:nvSpPr>
        <p:spPr>
          <a:xfrm>
            <a:off x="1811150" y="1153950"/>
            <a:ext cx="61584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cd nombreCarpeta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hange 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irectory] Nos permite acceder a la carpeta que le indiquemos.</a:t>
            </a:r>
            <a:endParaRPr b="0" i="0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mkdir nombreCarpeta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="1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ir</a:t>
            </a: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ectory] Crea una carpeta con el nombre que le indiquemos.</a:t>
            </a:r>
            <a:endParaRPr b="0" i="0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touch nombreArchivo.extension</a:t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Crea un archivo de texto con el nombre que le indiquemos (debemos aclarar la extensión).</a:t>
            </a:r>
            <a:endParaRPr b="0" i="0" sz="1500" u="none" cap="none" strike="noStrike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1" sz="5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434343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83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